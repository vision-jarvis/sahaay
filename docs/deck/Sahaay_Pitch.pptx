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332720" y="6400800"/>
            <a:ext cx="16459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97A6"/>
                </a:solidFill>
                <a:latin typeface="Segoe UI"/>
              </a:rPr>
              <a:t>Sahaay  · 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73152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6600" b="1">
                <a:solidFill>
                  <a:srgbClr val="3DDC97"/>
                </a:solidFill>
                <a:latin typeface="Segoe UI"/>
              </a:rPr>
              <a:t>Sahaay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97180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>
                <a:solidFill>
                  <a:srgbClr val="8A97A6"/>
                </a:solidFill>
                <a:latin typeface="Segoe UI"/>
              </a:rPr>
              <a:t>सहाय  ·  "assistance"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200" b="1">
                <a:solidFill>
                  <a:srgbClr val="E8EDF2"/>
                </a:solidFill>
                <a:latin typeface="Segoe UI"/>
              </a:rPr>
              <a:t>Your PC, hands-free and eyes-free.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9768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>
                <a:solidFill>
                  <a:srgbClr val="E8EDF2"/>
                </a:solidFill>
                <a:latin typeface="Segoe UI"/>
              </a:rPr>
              <a:t>An offline accessibility copilot for Snapdragon-powered HP PCs. Six AI models, all on the Hexagon NPU, nothing leaves the laptop.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66928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>
                <a:solidFill>
                  <a:srgbClr val="8A97A6"/>
                </a:solidFill>
                <a:latin typeface="Segoe UI"/>
              </a:rPr>
              <a:t>Ruhan Srivastava  ·  Snapdragon AI Lab Build &amp; Present Challenge 2026</a:t>
            </a:r>
          </a:p>
          <a:p>
            <a:pPr algn="l"/>
            <a:r>
              <a:rPr sz="1400" b="0">
                <a:solidFill>
                  <a:srgbClr val="8A97A6"/>
                </a:solidFill>
                <a:latin typeface="Segoe UI"/>
              </a:rPr>
              <a:t>github.com/Vision-jarvis/sahaay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3DDC97"/>
                </a:solidFill>
                <a:latin typeface="Segoe U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E8EDF2"/>
                </a:solidFill>
                <a:latin typeface="Segoe UI"/>
              </a:rPr>
              <a:t>A laptop is useless if you cannot move a mouse or see a screen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400800"/>
            <a:ext cx="16459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97A6"/>
                </a:solidFill>
                <a:latin typeface="Segoe UI"/>
              </a:rPr>
              <a:t>Sahaay  · 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6949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3DDC97"/>
                </a:solidFill>
                <a:latin typeface="Segoe UI"/>
              </a:rPr>
              <a:t>•  2.68 crore Indians live with a disability (Census 2011).</a:t>
            </a:r>
            <a:r>
              <a:rPr sz="1600">
                <a:solidFill>
                  <a:srgbClr val="E8EDF2"/>
                </a:solidFill>
                <a:latin typeface="Segoe UI"/>
              </a:rPr>
              <a:t>  Roughly one in five with a movement disability, one in five with a visual disability.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3DDC97"/>
                </a:solidFill>
                <a:latin typeface="Segoe UI"/>
              </a:rPr>
              <a:t>•  Assistive hardware is priced like medical equipment.</a:t>
            </a:r>
            <a:r>
              <a:rPr sz="1600">
                <a:solidFill>
                  <a:srgbClr val="E8EDF2"/>
                </a:solidFill>
                <a:latin typeface="Segoe UI"/>
              </a:rPr>
              <a:t>  Eye-gaze systems cost over Rs 1.5 lakh, need a dongle, a licence and often the cloud.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3DDC97"/>
                </a:solidFill>
                <a:latin typeface="Segoe UI"/>
              </a:rPr>
              <a:t>•  Cloud AI cannot do this job.</a:t>
            </a:r>
            <a:r>
              <a:rPr sz="1600">
                <a:solidFill>
                  <a:srgbClr val="E8EDF2"/>
                </a:solidFill>
                <a:latin typeface="Segoe UI"/>
              </a:rPr>
              <a:t>  A camera watching your face all day and a screen showing your bank statement cannot be streamed to a server. Latency and patchy 4G make it unusable anyway.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3DDC97"/>
                </a:solidFill>
                <a:latin typeface="Segoe UI"/>
              </a:rPr>
              <a:t>•  Built-in accessibility stops at the basics.</a:t>
            </a:r>
            <a:r>
              <a:rPr sz="1600">
                <a:solidFill>
                  <a:srgbClr val="E8EDF2"/>
                </a:solidFill>
                <a:latin typeface="Segoe UI"/>
              </a:rPr>
              <a:t>  Windows Narrator reads controls; it cannot describe a photo, a chart, or the room. Voice Access needs the cloud for anything free-form.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737360"/>
            <a:ext cx="3474720" cy="1280160"/>
          </a:xfrm>
          <a:prstGeom prst="roundRect">
            <a:avLst/>
          </a:prstGeom>
          <a:solidFill>
            <a:srgbClr val="181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3000" b="1">
                <a:solidFill>
                  <a:srgbClr val="3DDC97"/>
                </a:solidFill>
                <a:latin typeface="Segoe UI"/>
              </a:rPr>
              <a:t>Rs 60,000</a:t>
            </a:r>
          </a:p>
          <a:p>
            <a:pPr algn="ctr"/>
            <a:r>
              <a:rPr sz="2700" b="0">
                <a:solidFill>
                  <a:srgbClr val="8A97A6"/>
                </a:solidFill>
                <a:latin typeface="Segoe UI"/>
              </a:rPr>
              <a:t>HP OmniBook 3 with a 45 TOPS NPU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3200400"/>
            <a:ext cx="3474720" cy="1280160"/>
          </a:xfrm>
          <a:prstGeom prst="roundRect">
            <a:avLst/>
          </a:prstGeom>
          <a:solidFill>
            <a:srgbClr val="181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3000" b="1">
                <a:solidFill>
                  <a:srgbClr val="3DDC97"/>
                </a:solidFill>
                <a:latin typeface="Segoe UI"/>
              </a:rPr>
              <a:t>Rs 0</a:t>
            </a:r>
          </a:p>
          <a:p>
            <a:pPr algn="ctr"/>
            <a:r>
              <a:rPr sz="2700" b="0">
                <a:solidFill>
                  <a:srgbClr val="8A97A6"/>
                </a:solidFill>
                <a:latin typeface="Segoe UI"/>
              </a:rPr>
              <a:t>Sahaay, forever offline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4663440"/>
            <a:ext cx="3474720" cy="1280160"/>
          </a:xfrm>
          <a:prstGeom prst="roundRect">
            <a:avLst/>
          </a:prstGeom>
          <a:solidFill>
            <a:srgbClr val="181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600" b="1">
                <a:solidFill>
                  <a:srgbClr val="FFB454"/>
                </a:solidFill>
                <a:latin typeface="Segoe UI"/>
              </a:rPr>
              <a:t>Rs 1,50,000+</a:t>
            </a:r>
          </a:p>
          <a:p>
            <a:pPr algn="ctr"/>
            <a:r>
              <a:rPr sz="2300" b="0">
                <a:solidFill>
                  <a:srgbClr val="8A97A6"/>
                </a:solidFill>
                <a:latin typeface="Segoe UI"/>
              </a:rPr>
              <a:t>a commercial eye-gaze system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3DDC97"/>
                </a:solidFill>
                <a:latin typeface="Segoe UI"/>
              </a:rPr>
              <a:t>WHAT SAHAAY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E8EDF2"/>
                </a:solidFill>
                <a:latin typeface="Segoe UI"/>
              </a:rPr>
              <a:t>One app, two people it changes everything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400800"/>
            <a:ext cx="16459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97A6"/>
                </a:solidFill>
                <a:latin typeface="Segoe UI"/>
              </a:rPr>
              <a:t>Sahaay  · 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5394960" cy="457200"/>
          </a:xfrm>
          <a:prstGeom prst="roundRect">
            <a:avLst/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101418"/>
                </a:solidFill>
                <a:latin typeface="Segoe UI"/>
              </a:rPr>
              <a:t>Hands-free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3DDC97"/>
                </a:solidFill>
                <a:latin typeface="Segoe UI"/>
              </a:rPr>
              <a:t>•  Head cursor.</a:t>
            </a:r>
            <a:r>
              <a:rPr sz="1400">
                <a:solidFill>
                  <a:srgbClr val="E8EDF2"/>
                </a:solidFill>
                <a:latin typeface="Segoe UI"/>
              </a:rPr>
              <a:t>  Nudge your head, the cursor moves; hold still, it stays. Auto-calibrates.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3DDC97"/>
                </a:solidFill>
                <a:latin typeface="Segoe UI"/>
              </a:rPr>
              <a:t>•  Clicks without hands.</a:t>
            </a:r>
            <a:r>
              <a:rPr sz="1400">
                <a:solidFill>
                  <a:srgbClr val="E8EDF2"/>
                </a:solidFill>
                <a:latin typeface="Segoe UI"/>
              </a:rPr>
              <a:t>  Dwell ring, short blink = left click, long blink = right, open mouth = drag.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3DDC97"/>
                </a:solidFill>
                <a:latin typeface="Segoe UI"/>
              </a:rPr>
              <a:t>•  Dictation anywhere,</a:t>
            </a:r>
            <a:r>
              <a:rPr sz="1400">
                <a:solidFill>
                  <a:srgbClr val="E8EDF2"/>
                </a:solidFill>
                <a:latin typeface="Segoe UI"/>
              </a:rPr>
              <a:t>  English and Hindi.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3DDC97"/>
                </a:solidFill>
                <a:latin typeface="Segoe UI"/>
              </a:rPr>
              <a:t>•  25 instant commands</a:t>
            </a:r>
            <a:r>
              <a:rPr sz="1400">
                <a:solidFill>
                  <a:srgbClr val="E8EDF2"/>
                </a:solidFill>
                <a:latin typeface="Segoe UI"/>
              </a:rPr>
              <a:t>  in under a millisecond: click, scroll, press ctrl s, open Chrome, next window.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3DDC97"/>
                </a:solidFill>
                <a:latin typeface="Segoe UI"/>
              </a:rPr>
              <a:t>•  Free-form commands</a:t>
            </a:r>
            <a:r>
              <a:rPr sz="1400">
                <a:solidFill>
                  <a:srgbClr val="E8EDF2"/>
                </a:solidFill>
                <a:latin typeface="Segoe UI"/>
              </a:rPr>
              <a:t>  through the on-device language model: "open my downloads", "write a thank-you note and save it".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3DDC97"/>
                </a:solidFill>
                <a:latin typeface="Segoe UI"/>
              </a:rPr>
              <a:t>•  Physical switches</a:t>
            </a:r>
            <a:r>
              <a:rPr sz="1400">
                <a:solidFill>
                  <a:srgbClr val="E8EDF2"/>
                </a:solidFill>
                <a:latin typeface="Segoe UI"/>
              </a:rPr>
              <a:t>  via an Arduino for people who cannot use the camera.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463040"/>
            <a:ext cx="5394960" cy="457200"/>
          </a:xfrm>
          <a:prstGeom prst="roundRect">
            <a:avLst/>
          </a:prstGeom>
          <a:solidFill>
            <a:srgbClr val="7E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101418"/>
                </a:solidFill>
                <a:latin typeface="Segoe UI"/>
              </a:rPr>
              <a:t>Narrator mode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011680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3DDC97"/>
                </a:solidFill>
                <a:latin typeface="Segoe UI"/>
              </a:rPr>
              <a:t>•  "What's on my screen?"</a:t>
            </a:r>
            <a:r>
              <a:rPr sz="1400">
                <a:solidFill>
                  <a:srgbClr val="E8EDF2"/>
                </a:solidFill>
                <a:latin typeface="Segoe UI"/>
              </a:rPr>
              <a:t>  Two spoken sentences: which app, what content, which buttons matter.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3DDC97"/>
                </a:solidFill>
                <a:latin typeface="Segoe UI"/>
              </a:rPr>
              <a:t>•  "Read this."</a:t>
            </a:r>
            <a:r>
              <a:rPr sz="1400">
                <a:solidFill>
                  <a:srgbClr val="E8EDF2"/>
                </a:solidFill>
                <a:latin typeface="Segoe UI"/>
              </a:rPr>
              <a:t>  Reads the focused paragraph or field.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3DDC97"/>
                </a:solidFill>
                <a:latin typeface="Segoe UI"/>
              </a:rPr>
              <a:t>•  "Describe the picture."</a:t>
            </a:r>
            <a:r>
              <a:rPr sz="1400">
                <a:solidFill>
                  <a:srgbClr val="E8EDF2"/>
                </a:solidFill>
                <a:latin typeface="Segoe UI"/>
              </a:rPr>
              <a:t>  The vision-language model describes what accessibility trees cannot: photos, charts, canvases.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3DDC97"/>
                </a:solidFill>
                <a:latin typeface="Segoe UI"/>
              </a:rPr>
              <a:t>•  "What do you see?"</a:t>
            </a:r>
            <a:r>
              <a:rPr sz="1400">
                <a:solidFill>
                  <a:srgbClr val="E8EDF2"/>
                </a:solidFill>
                <a:latin typeface="Segoe UI"/>
              </a:rPr>
              <a:t>  Describes the webcam view, reads labels and signs.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3DDC97"/>
                </a:solidFill>
                <a:latin typeface="Segoe UI"/>
              </a:rPr>
              <a:t>•  Every action is spoken back,</a:t>
            </a:r>
            <a:r>
              <a:rPr sz="1400">
                <a:solidFill>
                  <a:srgbClr val="E8EDF2"/>
                </a:solidFill>
                <a:latin typeface="Segoe UI"/>
              </a:rPr>
              <a:t>  so a blind user always knows what just happened.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3DDC97"/>
                </a:solidFill>
                <a:latin typeface="Segoe UI"/>
              </a:rPr>
              <a:t>•  Voices in English and Hindi,</a:t>
            </a:r>
            <a:r>
              <a:rPr sz="1400">
                <a:solidFill>
                  <a:srgbClr val="E8EDF2"/>
                </a:solidFill>
                <a:latin typeface="Segoe UI"/>
              </a:rPr>
              <a:t>  generated on the laptop.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3DDC97"/>
                </a:solidFill>
                <a:latin typeface="Segoe UI"/>
              </a:rPr>
              <a:t>SEE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E8EDF2"/>
                </a:solidFill>
                <a:latin typeface="Segoe UI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400800"/>
            <a:ext cx="16459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97A6"/>
                </a:solidFill>
                <a:latin typeface="Segoe UI"/>
              </a:rPr>
              <a:t>Sahaay  ·  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5486400" cy="2286000"/>
          </a:xfrm>
          <a:prstGeom prst="roundRect">
            <a:avLst/>
          </a:prstGeom>
          <a:solidFill>
            <a:srgbClr val="181E25"/>
          </a:solidFill>
          <a:ln w="19050">
            <a:solidFill>
              <a:srgbClr val="8A97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8A97A6"/>
                </a:solidFill>
                <a:latin typeface="Segoe UI"/>
              </a:rPr>
              <a:t>Hands-free demo (GIF in the README)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463040"/>
            <a:ext cx="5486400" cy="2286000"/>
          </a:xfrm>
          <a:prstGeom prst="roundRect">
            <a:avLst/>
          </a:prstGeom>
          <a:solidFill>
            <a:srgbClr val="181E25"/>
          </a:solidFill>
          <a:ln w="19050">
            <a:solidFill>
              <a:srgbClr val="8A97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8A97A6"/>
                </a:solidFill>
                <a:latin typeface="Segoe UI"/>
              </a:rPr>
              <a:t>Narrator demo (GIF in the README)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46320"/>
            <a:ext cx="54864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8A97A6"/>
                </a:solidFill>
                <a:latin typeface="Segoe UI"/>
              </a:rPr>
              <a:t>Head moves the cursor, a blink clicks, "open notepad and type a thank-you note to my teacher" does the rest.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4846320"/>
            <a:ext cx="54864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8A97A6"/>
                </a:solidFill>
                <a:latin typeface="Segoe UI"/>
              </a:rPr>
              <a:t>"What's on my screen?"  "Describe the picture."  "What do you see?"  Answered in about two seconds, on the NPU.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3DDC97"/>
                </a:solidFill>
                <a:latin typeface="Segoe UI"/>
              </a:rPr>
              <a:t>Full videos and GIFs: github.com/Vision-jarvis/sahaay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3DDC97"/>
                </a:solidFill>
                <a:latin typeface="Segoe UI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E8EDF2"/>
                </a:solidFill>
                <a:latin typeface="Segoe UI"/>
              </a:rPr>
              <a:t>Six models, one NPU, the CPU only moves the mouse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400800"/>
            <a:ext cx="16459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97A6"/>
                </a:solidFill>
                <a:latin typeface="Segoe UI"/>
              </a:rPr>
              <a:t>Sahaay  ·  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2148840" cy="731520"/>
          </a:xfrm>
          <a:prstGeom prst="roundRect">
            <a:avLst/>
          </a:prstGeom>
          <a:solidFill>
            <a:srgbClr val="181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E8EDF2"/>
                </a:solidFill>
                <a:latin typeface="Segoe UI"/>
              </a:rPr>
              <a:t>Webcam</a:t>
            </a:r>
          </a:p>
          <a:p>
            <a:pPr algn="ctr"/>
            <a:r>
              <a:rPr sz="1000" b="0">
                <a:solidFill>
                  <a:srgbClr val="8A97A6"/>
                </a:solidFill>
                <a:latin typeface="Segoe UI"/>
              </a:rPr>
              <a:t>1280x720, 30 fps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560320"/>
            <a:ext cx="2148840" cy="731520"/>
          </a:xfrm>
          <a:prstGeom prst="roundRect">
            <a:avLst/>
          </a:prstGeom>
          <a:solidFill>
            <a:srgbClr val="181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E8EDF2"/>
                </a:solidFill>
                <a:latin typeface="Segoe UI"/>
              </a:rPr>
              <a:t>Microphone</a:t>
            </a:r>
          </a:p>
          <a:p>
            <a:pPr algn="ctr"/>
            <a:r>
              <a:rPr sz="1000" b="0">
                <a:solidFill>
                  <a:srgbClr val="8A97A6"/>
                </a:solidFill>
                <a:latin typeface="Segoe UI"/>
              </a:rPr>
              <a:t>16 kHz, VAD on CPU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566160"/>
            <a:ext cx="2148840" cy="731520"/>
          </a:xfrm>
          <a:prstGeom prst="roundRect">
            <a:avLst/>
          </a:prstGeom>
          <a:solidFill>
            <a:srgbClr val="181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E8EDF2"/>
                </a:solidFill>
                <a:latin typeface="Segoe UI"/>
              </a:rPr>
              <a:t>Screen</a:t>
            </a:r>
          </a:p>
          <a:p>
            <a:pPr algn="ctr"/>
            <a:r>
              <a:rPr sz="1000" b="0">
                <a:solidFill>
                  <a:srgbClr val="8A97A6"/>
                </a:solidFill>
                <a:latin typeface="Segoe UI"/>
              </a:rPr>
              <a:t>UI Automation tree + screenshot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572000"/>
            <a:ext cx="2148840" cy="731520"/>
          </a:xfrm>
          <a:prstGeom prst="roundRect">
            <a:avLst/>
          </a:prstGeom>
          <a:solidFill>
            <a:srgbClr val="181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E8EDF2"/>
                </a:solidFill>
                <a:latin typeface="Segoe UI"/>
              </a:rPr>
              <a:t>Arduino switches</a:t>
            </a:r>
          </a:p>
          <a:p>
            <a:pPr algn="ctr"/>
            <a:r>
              <a:rPr sz="1000" b="0">
                <a:solidFill>
                  <a:srgbClr val="8A97A6"/>
                </a:solidFill>
                <a:latin typeface="Segoe UI"/>
              </a:rPr>
              <a:t>JSON over USB serial (optional)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60" y="1554480"/>
            <a:ext cx="2834640" cy="731520"/>
          </a:xfrm>
          <a:prstGeom prst="roundRect">
            <a:avLst/>
          </a:prstGeom>
          <a:solidFill>
            <a:srgbClr val="181E25"/>
          </a:solidFill>
          <a:ln w="19050"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E8EDF2"/>
                </a:solidFill>
                <a:latin typeface="Segoe UI"/>
              </a:rPr>
              <a:t>Face detector + 468-pt mesh</a:t>
            </a:r>
          </a:p>
          <a:p>
            <a:pPr algn="ctr"/>
            <a:r>
              <a:rPr sz="1000" b="0">
                <a:solidFill>
                  <a:srgbClr val="8A97A6"/>
                </a:solidFill>
                <a:latin typeface="Segoe UI"/>
              </a:rPr>
              <a:t>0.4 + 0.2 ms · head pose, blink, mouth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08960" y="2560320"/>
            <a:ext cx="2834640" cy="731520"/>
          </a:xfrm>
          <a:prstGeom prst="roundRect">
            <a:avLst/>
          </a:prstGeom>
          <a:solidFill>
            <a:srgbClr val="181E25"/>
          </a:solidFill>
          <a:ln w="19050"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E8EDF2"/>
                </a:solidFill>
                <a:latin typeface="Segoe UI"/>
              </a:rPr>
              <a:t>Whisper base</a:t>
            </a:r>
          </a:p>
          <a:p>
            <a:pPr algn="ctr"/>
            <a:r>
              <a:rPr sz="1000" b="0">
                <a:solidFill>
                  <a:srgbClr val="8A97A6"/>
                </a:solidFill>
                <a:latin typeface="Segoe UI"/>
              </a:rPr>
              <a:t>encoder 25 ms, decoder 3 ms/token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08960" y="3566160"/>
            <a:ext cx="2834640" cy="731520"/>
          </a:xfrm>
          <a:prstGeom prst="roundRect">
            <a:avLst/>
          </a:prstGeom>
          <a:solidFill>
            <a:srgbClr val="181E25"/>
          </a:solidFill>
          <a:ln w="19050"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E8EDF2"/>
                </a:solidFill>
                <a:latin typeface="Segoe UI"/>
              </a:rPr>
              <a:t>Qwen3-4B-Instruct</a:t>
            </a:r>
          </a:p>
          <a:p>
            <a:pPr algn="ctr"/>
            <a:r>
              <a:rPr sz="1000" b="0">
                <a:solidFill>
                  <a:srgbClr val="8A97A6"/>
                </a:solidFill>
                <a:latin typeface="Segoe UI"/>
              </a:rPr>
              <a:t>screen list + speech to JSON tool calls, 33 tok/s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08960" y="4572000"/>
            <a:ext cx="2834640" cy="731520"/>
          </a:xfrm>
          <a:prstGeom prst="roundRect">
            <a:avLst/>
          </a:prstGeom>
          <a:solidFill>
            <a:srgbClr val="181E25"/>
          </a:solidFill>
          <a:ln w="19050"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E8EDF2"/>
                </a:solidFill>
                <a:latin typeface="Segoe UI"/>
              </a:rPr>
              <a:t>Qwen3-VL-4B-Instruct</a:t>
            </a:r>
          </a:p>
          <a:p>
            <a:pPr algn="ctr"/>
            <a:r>
              <a:rPr sz="1000" b="0">
                <a:solidFill>
                  <a:srgbClr val="8A97A6"/>
                </a:solidFill>
                <a:latin typeface="Segoe UI"/>
              </a:rPr>
              <a:t>describes screen and camera, 30 tok/s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1188720"/>
            <a:ext cx="28346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1">
                <a:solidFill>
                  <a:srgbClr val="3DDC97"/>
                </a:solidFill>
                <a:latin typeface="Segoe UI"/>
              </a:rPr>
              <a:t>HEXAGON NPU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92240" y="1554480"/>
            <a:ext cx="2651760" cy="731520"/>
          </a:xfrm>
          <a:prstGeom prst="roundRect">
            <a:avLst/>
          </a:prstGeom>
          <a:solidFill>
            <a:srgbClr val="181E25"/>
          </a:solidFill>
          <a:ln w="19050">
            <a:solidFill>
              <a:srgbClr val="8A97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E8EDF2"/>
                </a:solidFill>
                <a:latin typeface="Segoe UI"/>
              </a:rPr>
              <a:t>Head cursor + gestures</a:t>
            </a:r>
          </a:p>
          <a:p>
            <a:pPr algn="ctr"/>
            <a:r>
              <a:rPr sz="1000" b="0">
                <a:solidFill>
                  <a:srgbClr val="8A97A6"/>
                </a:solidFill>
                <a:latin typeface="Segoe UI"/>
              </a:rPr>
              <a:t>joystick, dwell, blink, drag · Win32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2560320"/>
            <a:ext cx="2651760" cy="731520"/>
          </a:xfrm>
          <a:prstGeom prst="roundRect">
            <a:avLst/>
          </a:prstGeom>
          <a:solidFill>
            <a:srgbClr val="181E25"/>
          </a:solidFill>
          <a:ln w="19050">
            <a:solidFill>
              <a:srgbClr val="8A97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E8EDF2"/>
                </a:solidFill>
                <a:latin typeface="Segoe UI"/>
              </a:rPr>
              <a:t>Fast grammar</a:t>
            </a:r>
          </a:p>
          <a:p>
            <a:pPr algn="ctr"/>
            <a:r>
              <a:rPr sz="1000" b="0">
                <a:solidFill>
                  <a:srgbClr val="8A97A6"/>
                </a:solidFill>
                <a:latin typeface="Segoe UI"/>
              </a:rPr>
              <a:t>25 commands, &lt;1 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3566160"/>
            <a:ext cx="2651760" cy="731520"/>
          </a:xfrm>
          <a:prstGeom prst="roundRect">
            <a:avLst/>
          </a:prstGeom>
          <a:solidFill>
            <a:srgbClr val="181E25"/>
          </a:solidFill>
          <a:ln w="19050">
            <a:solidFill>
              <a:srgbClr val="8A97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E8EDF2"/>
                </a:solidFill>
                <a:latin typeface="Segoe UI"/>
              </a:rPr>
              <a:t>Action executor</a:t>
            </a:r>
          </a:p>
          <a:p>
            <a:pPr algn="ctr"/>
            <a:r>
              <a:rPr sz="1000" b="0">
                <a:solidFill>
                  <a:srgbClr val="8A97A6"/>
                </a:solidFill>
                <a:latin typeface="Segoe UI"/>
              </a:rPr>
              <a:t>click, type, keys, open, focus, scroll, read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92240" y="4572000"/>
            <a:ext cx="2651760" cy="731520"/>
          </a:xfrm>
          <a:prstGeom prst="roundRect">
            <a:avLst/>
          </a:prstGeom>
          <a:solidFill>
            <a:srgbClr val="181E25"/>
          </a:solidFill>
          <a:ln w="19050">
            <a:solidFill>
              <a:srgbClr val="8A97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E8EDF2"/>
                </a:solidFill>
                <a:latin typeface="Segoe UI"/>
              </a:rPr>
              <a:t>Schema validator + allow-list</a:t>
            </a:r>
          </a:p>
          <a:p>
            <a:pPr algn="ctr"/>
            <a:r>
              <a:rPr sz="1000" b="0">
                <a:solidFill>
                  <a:srgbClr val="8A97A6"/>
                </a:solidFill>
                <a:latin typeface="Segoe UI"/>
              </a:rPr>
              <a:t>no invented tools or elements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188720"/>
            <a:ext cx="26517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1">
                <a:solidFill>
                  <a:srgbClr val="8A97A6"/>
                </a:solidFill>
                <a:latin typeface="Segoe UI"/>
              </a:rPr>
              <a:t>ORYON CPU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92640" y="2057400"/>
            <a:ext cx="2103120" cy="822960"/>
          </a:xfrm>
          <a:prstGeom prst="roundRect">
            <a:avLst/>
          </a:prstGeom>
          <a:solidFill>
            <a:srgbClr val="181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E8EDF2"/>
                </a:solidFill>
                <a:latin typeface="Segoe UI"/>
              </a:rPr>
              <a:t>Windows</a:t>
            </a:r>
          </a:p>
          <a:p>
            <a:pPr algn="ctr"/>
            <a:r>
              <a:rPr sz="1000" b="0">
                <a:solidFill>
                  <a:srgbClr val="8A97A6"/>
                </a:solidFill>
                <a:latin typeface="Segoe UI"/>
              </a:rPr>
              <a:t>any app, any control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92640" y="3566160"/>
            <a:ext cx="2103120" cy="731520"/>
          </a:xfrm>
          <a:prstGeom prst="roundRect">
            <a:avLst/>
          </a:prstGeom>
          <a:solidFill>
            <a:srgbClr val="181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E8EDF2"/>
                </a:solidFill>
                <a:latin typeface="Segoe UI"/>
              </a:rPr>
              <a:t>Piper TTS en / hi</a:t>
            </a:r>
          </a:p>
          <a:p>
            <a:pPr algn="ctr"/>
            <a:r>
              <a:rPr sz="1000" b="0">
                <a:solidFill>
                  <a:srgbClr val="8A97A6"/>
                </a:solidFill>
                <a:latin typeface="Segoe UI"/>
              </a:rPr>
              <a:t>16x real time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92640" y="4572000"/>
            <a:ext cx="2103120" cy="731520"/>
          </a:xfrm>
          <a:prstGeom prst="roundRect">
            <a:avLst/>
          </a:prstGeom>
          <a:solidFill>
            <a:srgbClr val="181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E8EDF2"/>
                </a:solidFill>
                <a:latin typeface="Segoe UI"/>
              </a:rPr>
              <a:t>HUD + tray</a:t>
            </a:r>
          </a:p>
          <a:p>
            <a:pPr algn="ctr"/>
            <a:r>
              <a:rPr sz="1000" b="0">
                <a:solidFill>
                  <a:srgbClr val="8A97A6"/>
                </a:solidFill>
                <a:latin typeface="Segoe UI"/>
              </a:rPr>
              <a:t>live per-model latency and compute unit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606040" y="1920240"/>
            <a:ext cx="502920" cy="0"/>
          </a:xfrm>
          <a:prstGeom prst="line">
            <a:avLst/>
          </a:prstGeom>
          <a:ln w="22225">
            <a:solidFill>
              <a:srgbClr val="8A97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943600" y="1920240"/>
            <a:ext cx="548640" cy="0"/>
          </a:xfrm>
          <a:prstGeom prst="line">
            <a:avLst/>
          </a:prstGeom>
          <a:ln w="22225">
            <a:solidFill>
              <a:srgbClr val="8A97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606040" y="2926080"/>
            <a:ext cx="502920" cy="0"/>
          </a:xfrm>
          <a:prstGeom prst="line">
            <a:avLst/>
          </a:prstGeom>
          <a:ln w="22225">
            <a:solidFill>
              <a:srgbClr val="8A97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943600" y="2926080"/>
            <a:ext cx="548640" cy="0"/>
          </a:xfrm>
          <a:prstGeom prst="line">
            <a:avLst/>
          </a:prstGeom>
          <a:ln w="22225">
            <a:solidFill>
              <a:srgbClr val="8A97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606040" y="3931920"/>
            <a:ext cx="502920" cy="0"/>
          </a:xfrm>
          <a:prstGeom prst="line">
            <a:avLst/>
          </a:prstGeom>
          <a:ln w="22225">
            <a:solidFill>
              <a:srgbClr val="8A97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943600" y="3931920"/>
            <a:ext cx="548640" cy="0"/>
          </a:xfrm>
          <a:prstGeom prst="line">
            <a:avLst/>
          </a:prstGeom>
          <a:ln w="22225">
            <a:solidFill>
              <a:srgbClr val="8A97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606040" y="4937760"/>
            <a:ext cx="502920" cy="0"/>
          </a:xfrm>
          <a:prstGeom prst="line">
            <a:avLst/>
          </a:prstGeom>
          <a:ln w="22225">
            <a:solidFill>
              <a:srgbClr val="8A97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43600" y="4937760"/>
            <a:ext cx="548640" cy="0"/>
          </a:xfrm>
          <a:prstGeom prst="line">
            <a:avLst/>
          </a:prstGeom>
          <a:ln w="22225">
            <a:solidFill>
              <a:srgbClr val="8A97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44000" y="1920240"/>
            <a:ext cx="548640" cy="548640"/>
          </a:xfrm>
          <a:prstGeom prst="line">
            <a:avLst/>
          </a:prstGeom>
          <a:ln w="22225">
            <a:solidFill>
              <a:srgbClr val="8A97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144000" y="2468880"/>
            <a:ext cx="548640" cy="1463040"/>
          </a:xfrm>
          <a:prstGeom prst="line">
            <a:avLst/>
          </a:prstGeom>
          <a:ln w="22225">
            <a:solidFill>
              <a:srgbClr val="8A97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144000" y="3931920"/>
            <a:ext cx="548640" cy="0"/>
          </a:xfrm>
          <a:prstGeom prst="line">
            <a:avLst/>
          </a:prstGeom>
          <a:ln w="22225">
            <a:solidFill>
              <a:srgbClr val="8A97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57200" y="5806440"/>
            <a:ext cx="1124712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8A97A6"/>
                </a:solidFill>
                <a:latin typeface="Segoe UI"/>
              </a:rPr>
              <a:t>Runtimes: ONNX Runtime + Qualcomm QNN execution provider (HTP) for face, speech and TTS graphs · Qualcomm GenieX (QAIRT) for the language and vision-language models · all models from Qualcomm AI Hub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3DDC97"/>
                </a:solidFill>
                <a:latin typeface="Segoe UI"/>
              </a:rPr>
              <a:t>TECHNICAL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E8EDF2"/>
                </a:solidFill>
                <a:latin typeface="Segoe UI"/>
              </a:rPr>
              <a:t>Models implemented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400800"/>
            <a:ext cx="16459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97A6"/>
                </a:solidFill>
                <a:latin typeface="Segoe UI"/>
              </a:rPr>
              <a:t>Sahaay  ·  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54480"/>
          <a:ext cx="1106424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3566160"/>
                <a:gridCol w="1737360"/>
                <a:gridCol w="2011680"/>
                <a:gridCol w="128016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DDC97"/>
                          </a:solidFill>
                          <a:latin typeface="Segoe UI"/>
                        </a:rPr>
                        <a:t>Job</a:t>
                      </a:r>
                    </a:p>
                  </a:txBody>
                  <a:tcPr marL="54864" marR="54864" marT="27432" marB="27432">
                    <a:solidFill>
                      <a:srgbClr val="222A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DDC97"/>
                          </a:solidFill>
                          <a:latin typeface="Segoe UI"/>
                        </a:rPr>
                        <a:t>Model (Qualcomm AI Hub)</a:t>
                      </a:r>
                    </a:p>
                  </a:txBody>
                  <a:tcPr marL="54864" marR="54864" marT="27432" marB="27432">
                    <a:solidFill>
                      <a:srgbClr val="222A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DDC97"/>
                          </a:solidFill>
                          <a:latin typeface="Segoe UI"/>
                        </a:rPr>
                        <a:t>Precision</a:t>
                      </a:r>
                    </a:p>
                  </a:txBody>
                  <a:tcPr marL="54864" marR="54864" marT="27432" marB="27432">
                    <a:solidFill>
                      <a:srgbClr val="222A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DDC97"/>
                          </a:solidFill>
                          <a:latin typeface="Segoe UI"/>
                        </a:rPr>
                        <a:t>Runtime</a:t>
                      </a:r>
                    </a:p>
                  </a:txBody>
                  <a:tcPr marL="54864" marR="54864" marT="27432" marB="27432">
                    <a:solidFill>
                      <a:srgbClr val="222A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DDC97"/>
                          </a:solidFill>
                          <a:latin typeface="Segoe UI"/>
                        </a:rPr>
                        <a:t>Unit</a:t>
                      </a:r>
                    </a:p>
                  </a:txBody>
                  <a:tcPr marL="54864" marR="54864" marT="27432" marB="27432">
                    <a:solidFill>
                      <a:srgbClr val="222A33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Face detection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mediapipe_face detector (BlazeFace)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fp16 on HTP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ONNX Runtime QNN EP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NPU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468-pt face mesh, pose, blink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mediapipe_face landmark detector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fp16 on HTP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ONNX Runtime QNN EP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NPU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Speech to text, en + hi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whisper_base encoder + KV-cache decoder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fp16, precompiled QNN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ONNX Runtime QNN EP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NPU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Intent to tool calls, summaries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qwen3_4b_instruct_2507 NPU bundle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4-bit weights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GenieX (QAIRT)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NPU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Screen and camera description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qwen3_vl_4b_instruct NPU bundle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4-bit weights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GenieX (QAIRT)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NPU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Text to speech, en + hi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Piper VITS (rhasspy voices)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fp32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ONNX Runtime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CPU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66344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3DDC97"/>
                </a:solidFill>
                <a:latin typeface="Segoe UI"/>
              </a:rPr>
              <a:t>•  Exported with qai-hub-models for both Snapdragon X2 Elite (Hexagon v81, dev laptop) and Snapdragon X Elite (Hexagon v73, the OmniBook).</a:t>
            </a:r>
            <a:r>
              <a:rPr sz="1300">
                <a:solidFill>
                  <a:srgbClr val="E8EDF2"/>
                </a:solidFill>
                <a:latin typeface="Segoe UI"/>
              </a:rPr>
              <a:t>  The installer detects the chipset.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3DDC97"/>
                </a:solidFill>
                <a:latin typeface="Segoe UI"/>
              </a:rPr>
              <a:t>•  No fine-tuning needed.</a:t>
            </a:r>
            <a:r>
              <a:rPr sz="1300">
                <a:solidFill>
                  <a:srgbClr val="E8EDF2"/>
                </a:solidFill>
                <a:latin typeface="Segoe UI"/>
              </a:rPr>
              <a:t>  Qualcomm's pre- and post-processing for MediaPipe and Whisper re-implemented in numpy so the app runs on ARM64 Windows without torch or OpenCV.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3DDC97"/>
                </a:solidFill>
                <a:latin typeface="Segoe UI"/>
              </a:rPr>
              <a:t>•  Proof, not claims.</a:t>
            </a:r>
            <a:r>
              <a:rPr sz="1300">
                <a:solidFill>
                  <a:srgbClr val="E8EDF2"/>
                </a:solidFill>
                <a:latin typeface="Segoe UI"/>
              </a:rPr>
              <a:t>  tools/npu_check.py asserts QNNExecutionProvider is active before any NPU number is reported. The common providers=["QNNExecutionProvider"] pattern silently runs on the CPU with today's plugin runtime.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3DDC97"/>
                </a:solidFill>
                <a:latin typeface="Segoe UI"/>
              </a:rPr>
              <a:t>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E8EDF2"/>
                </a:solidFill>
                <a:latin typeface="Segoe UI"/>
              </a:rPr>
              <a:t>Measured on the NPU, not estimated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400800"/>
            <a:ext cx="16459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97A6"/>
                </a:solidFill>
                <a:latin typeface="Segoe UI"/>
              </a:rPr>
              <a:t>Sahaay  ·  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69494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005840"/>
                <a:gridCol w="2103120"/>
                <a:gridCol w="128016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3DDC97"/>
                          </a:solidFill>
                          <a:latin typeface="Segoe UI"/>
                        </a:rPr>
                        <a:t>Stage</a:t>
                      </a:r>
                    </a:p>
                  </a:txBody>
                  <a:tcPr marL="54864" marR="54864" marT="27432" marB="27432">
                    <a:solidFill>
                      <a:srgbClr val="222A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3DDC97"/>
                          </a:solidFill>
                          <a:latin typeface="Segoe UI"/>
                        </a:rPr>
                        <a:t>CPU</a:t>
                      </a:r>
                    </a:p>
                  </a:txBody>
                  <a:tcPr marL="54864" marR="54864" marT="27432" marB="27432">
                    <a:solidFill>
                      <a:srgbClr val="222A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3DDC97"/>
                          </a:solidFill>
                          <a:latin typeface="Segoe UI"/>
                        </a:rPr>
                        <a:t>NPU</a:t>
                      </a:r>
                    </a:p>
                  </a:txBody>
                  <a:tcPr marL="54864" marR="54864" marT="27432" marB="27432">
                    <a:solidFill>
                      <a:srgbClr val="222A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3DDC97"/>
                          </a:solidFill>
                          <a:latin typeface="Segoe UI"/>
                        </a:rPr>
                        <a:t>Note</a:t>
                      </a:r>
                    </a:p>
                  </a:txBody>
                  <a:tcPr marL="54864" marR="54864" marT="27432" marB="27432">
                    <a:solidFill>
                      <a:srgbClr val="222A3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Face detector 256x256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2.97 ms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0.42 ms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7x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Face mesh 192x192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1.01 ms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0.16 ms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6x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Full face pipeline, live 720p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2.7 ms/frame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28 fps, camera-bound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Whisper encoder (30 s window)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25 ms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Whisper decoder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3.0 ms/token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a 6 s command in ~100 ms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Qwen3-4B (GenieX)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60 ms to first token, 33 tok/s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loads in 8 s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Qwen3-VL-4B screen description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280 ms to first token, 30 tok/s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2.3 s per description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Piper TTS, 4 s of speech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230 ms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8EDF2"/>
                          </a:solidFill>
                          <a:latin typeface="Segoe UI"/>
                        </a:rPr>
                        <a:t>16x real time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863840" y="1463040"/>
            <a:ext cx="38404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>
                <a:solidFill>
                  <a:srgbClr val="3DDC97"/>
                </a:solidFill>
                <a:latin typeface="Segoe UI"/>
              </a:rPr>
              <a:t>Compute cores used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920240"/>
            <a:ext cx="39319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3DDC97"/>
                </a:solidFill>
                <a:latin typeface="Segoe UI"/>
              </a:rPr>
              <a:t>•  NPU:</a:t>
            </a:r>
            <a:r>
              <a:rPr sz="1200">
                <a:solidFill>
                  <a:srgbClr val="E8EDF2"/>
                </a:solidFill>
                <a:latin typeface="Segoe UI"/>
              </a:rPr>
              <a:t>  face detector, face mesh, Whisper encoder and decoder, Qwen3-4B, Qwen3-VL-4B. Everything that is a neural network.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3DDC97"/>
                </a:solidFill>
                <a:latin typeface="Segoe UI"/>
              </a:rPr>
              <a:t>•  CPU:</a:t>
            </a:r>
            <a:r>
              <a:rPr sz="1200">
                <a:solidFill>
                  <a:srgbClr val="E8EDF2"/>
                </a:solidFill>
                <a:latin typeface="Segoe UI"/>
              </a:rPr>
              <a:t>  capture, VAD, mel features, UI Automation, grammar, validation, cursor maths, SendInput, overlay, TTS.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3DDC97"/>
                </a:solidFill>
                <a:latin typeface="Segoe UI"/>
              </a:rPr>
              <a:t>•  GPU:</a:t>
            </a:r>
            <a:r>
              <a:rPr sz="1200">
                <a:solidFill>
                  <a:srgbClr val="E8EDF2"/>
                </a:solidFill>
                <a:latin typeface="Segoe UI"/>
              </a:rPr>
              <a:t>  deliberately nothing; the user's apps keep it.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3DDC97"/>
                </a:solidFill>
                <a:latin typeface="Segoe UI"/>
              </a:rPr>
              <a:t>•  Concurrent:</a:t>
            </a:r>
            <a:r>
              <a:rPr sz="1200">
                <a:solidFill>
                  <a:srgbClr val="E8EDF2"/>
                </a:solidFill>
                <a:latin typeface="Segoe UI"/>
              </a:rPr>
              <a:t>  the cursor stays at 28 fps and Whisper keeps listening while the LLM plans and the VLM describes, all on one NPU.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074920"/>
            <a:ext cx="694944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8A97A6"/>
                </a:solidFill>
                <a:latin typeface="Segoe UI"/>
              </a:rPr>
              <a:t>Qualcomm AI Hub profiling, every op on the NPU (job links in benchmarks/aihub_profiles.md):</a:t>
            </a:r>
          </a:p>
          <a:p>
            <a:pPr algn="l"/>
            <a:r>
              <a:rPr sz="1100" b="0">
                <a:solidFill>
                  <a:srgbClr val="8A97A6"/>
                </a:solidFill>
                <a:latin typeface="Segoe UI"/>
              </a:rPr>
              <a:t>Snapdragon X2 Elite CRD: face detector 0.4 ms, face mesh 0.2 ms, Whisper encoder 21.5 ms, decoder 2.4 ms/token.</a:t>
            </a:r>
          </a:p>
          <a:p>
            <a:pPr algn="l"/>
            <a:r>
              <a:rPr sz="1100" b="0">
                <a:solidFill>
                  <a:srgbClr val="8A97A6"/>
                </a:solidFill>
                <a:latin typeface="Segoe UI"/>
              </a:rPr>
              <a:t>Snapdragon X Elite CRD (HP OmniBook): face detector 0.7 ms, face mesh 0.3 ms, Whisper encoder 45.4 ms, decoder 3.7 ms/token.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3DDC97"/>
                </a:solidFill>
                <a:latin typeface="Segoe UI"/>
              </a:rPr>
              <a:t>DEPLOYMENT &amp; ACCESSIBILITY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E8EDF2"/>
                </a:solidFill>
                <a:latin typeface="Segoe UI"/>
              </a:rPr>
              <a:t>Installs in one command, then never needs the internet again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400800"/>
            <a:ext cx="16459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97A6"/>
                </a:solidFill>
                <a:latin typeface="Segoe UI"/>
              </a:rPr>
              <a:t>Sahaay  ·  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10972800" cy="1005840"/>
          </a:xfrm>
          <a:prstGeom prst="roundRect">
            <a:avLst/>
          </a:prstGeom>
          <a:solidFill>
            <a:srgbClr val="181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800" b="1">
                <a:solidFill>
                  <a:srgbClr val="3DDC97"/>
                </a:solidFill>
                <a:latin typeface="Segoe UI"/>
              </a:rPr>
              <a:t>powershell -ExecutionPolicy Bypass -File install.ps1</a:t>
            </a:r>
          </a:p>
          <a:p>
            <a:pPr algn="ctr"/>
            <a:r>
              <a:rPr sz="1500" b="0">
                <a:solidFill>
                  <a:srgbClr val="8A97A6"/>
                </a:solidFill>
                <a:latin typeface="Segoe UI"/>
              </a:rPr>
              <a:t>installs ARM64 Python if missing · virtual environment · models for your chipset (one time) · espeak-ng · Start Menu shortcut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3DDC97"/>
                </a:solidFill>
                <a:latin typeface="Segoe UI"/>
              </a:rPr>
              <a:t>•  Runs on every Snapdragon X, X Plus, X Elite, X2 Plus and X2 Elite PC,</a:t>
            </a:r>
            <a:r>
              <a:rPr sz="1400">
                <a:solidFill>
                  <a:srgbClr val="E8EDF2"/>
                </a:solidFill>
                <a:latin typeface="Segoe UI"/>
              </a:rPr>
              <a:t>  including HP OmniBook X, 5, 3, Ultra and EliteBook Ultra. 16 GB RAM recommended; --no-vlm on tighter machines.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3DDC97"/>
                </a:solidFill>
                <a:latin typeface="Segoe UI"/>
              </a:rPr>
              <a:t>•  No admin rights, no account, no cloud.</a:t>
            </a:r>
            <a:r>
              <a:rPr sz="1400">
                <a:solidFill>
                  <a:srgbClr val="E8EDF2"/>
                </a:solidFill>
                <a:latin typeface="Segoe UI"/>
              </a:rPr>
              <a:t>  Frames, audio and screenshots stay in RAM. Log file for support.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3DDC97"/>
                </a:solidFill>
                <a:latin typeface="Segoe UI"/>
              </a:rPr>
              <a:t>•  Accessible by design:</a:t>
            </a:r>
            <a:r>
              <a:rPr sz="1400">
                <a:solidFill>
                  <a:srgbClr val="E8EDF2"/>
                </a:solidFill>
                <a:latin typeface="Segoe UI"/>
              </a:rPr>
              <a:t>  global hotkeys, tray toggles, spoken confirmation of every action, a heads-up panel that shows what was heard and done, English and Hindi voices.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3DDC97"/>
                </a:solidFill>
                <a:latin typeface="Segoe UI"/>
              </a:rPr>
              <a:t>•  Switch access:</a:t>
            </a:r>
            <a:r>
              <a:rPr sz="1400">
                <a:solidFill>
                  <a:srgbClr val="E8EDF2"/>
                </a:solidFill>
                <a:latin typeface="Segoe UI"/>
              </a:rPr>
              <a:t>  a five-line JSON protocol turns any Arduino, including the UNO Q from the AI Lab kit, into a Sahaay switch. Try it in the Wokwi simulator without hardware.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3DDC97"/>
                </a:solidFill>
                <a:latin typeface="Segoe UI"/>
              </a:rPr>
              <a:t>•  Reviewer tools:</a:t>
            </a:r>
            <a:r>
              <a:rPr sz="1400">
                <a:solidFill>
                  <a:srgbClr val="E8EDF2"/>
                </a:solidFill>
                <a:latin typeface="Segoe UI"/>
              </a:rPr>
              <a:t>  tools/npu_check.py proves the NPU is active; tools/bench_all.py regenerates every number in this deck.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3DDC97"/>
                </a:solidFill>
                <a:latin typeface="Segoe UI"/>
              </a:rPr>
              <a:t>USE CASE &amp; INNOVATION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E8EDF2"/>
                </a:solidFill>
                <a:latin typeface="Segoe UI"/>
              </a:rPr>
              <a:t>Why this belongs on a Snapdragon HP PC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400800"/>
            <a:ext cx="16459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97A6"/>
                </a:solidFill>
                <a:latin typeface="Segoe UI"/>
              </a:rPr>
              <a:t>Sahaay  ·  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7315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103120"/>
                <a:gridCol w="19202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DDC97"/>
                          </a:solidFill>
                          <a:latin typeface="Segoe UI"/>
                        </a:rPr>
                        <a:t>Need</a:t>
                      </a:r>
                    </a:p>
                  </a:txBody>
                  <a:tcPr marL="54864" marR="54864" marT="27432" marB="27432">
                    <a:solidFill>
                      <a:srgbClr val="222A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DDC97"/>
                          </a:solidFill>
                          <a:latin typeface="Segoe UI"/>
                        </a:rPr>
                        <a:t>Cloud assistant</a:t>
                      </a:r>
                    </a:p>
                  </a:txBody>
                  <a:tcPr marL="54864" marR="54864" marT="27432" marB="27432">
                    <a:solidFill>
                      <a:srgbClr val="222A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3DDC97"/>
                          </a:solidFill>
                          <a:latin typeface="Segoe UI"/>
                        </a:rPr>
                        <a:t>Sahaay on the NPU</a:t>
                      </a:r>
                    </a:p>
                  </a:txBody>
                  <a:tcPr marL="54864" marR="54864" marT="27432" marB="27432">
                    <a:solidFill>
                      <a:srgbClr val="222A3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Camera on your face all day, screen with your bank statement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uploaded frame by frame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never leaves RAM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Cursor latency a person can tolerate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100 ms and up, network dependent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under 1 ms per frame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Hostel, hospital, train, patchy 4G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does not work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fully offline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Battery on a laptop that is the user's only interface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CPU or GPU inference drains it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NPU runs the whole stack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Cost to a student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subscription + speech API minutes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8EDF2"/>
                          </a:solidFill>
                          <a:latin typeface="Segoe UI"/>
                        </a:rPr>
                        <a:t>zero, forever</a:t>
                      </a:r>
                    </a:p>
                  </a:txBody>
                  <a:tcPr marL="54864" marR="54864" marT="27432" marB="27432">
                    <a:solidFill>
                      <a:srgbClr val="181E2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138160" y="146304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 b="1">
                <a:solidFill>
                  <a:srgbClr val="3DDC97"/>
                </a:solidFill>
                <a:latin typeface="Segoe UI"/>
              </a:rPr>
              <a:t>•  What is new:</a:t>
            </a:r>
            <a:r>
              <a:rPr sz="1200">
                <a:solidFill>
                  <a:srgbClr val="E8EDF2"/>
                </a:solidFill>
                <a:latin typeface="Segoe UI"/>
              </a:rPr>
              <a:t>  not a head mouse and not a screen reader, but one conversational layer over Windows that sees the screen the way the user needs, on the NPU, in Hindi and English.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3DDC97"/>
                </a:solidFill>
                <a:latin typeface="Segoe UI"/>
              </a:rPr>
              <a:t>•  Fits the program:</a:t>
            </a:r>
            <a:r>
              <a:rPr sz="1200">
                <a:solidFill>
                  <a:srgbClr val="E8EDF2"/>
                </a:solidFill>
                <a:latin typeface="Segoe UI"/>
              </a:rPr>
              <a:t>  HP India targets students with the OmniBook 3 and 5; Qualcomm India wants Snapdragon PCs under Rs 60,000. Sahaay makes that laptop an assistive device.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3DDC97"/>
                </a:solidFill>
                <a:latin typeface="Segoe UI"/>
              </a:rPr>
              <a:t>•  Scales with silicon:</a:t>
            </a:r>
            <a:r>
              <a:rPr sz="1200">
                <a:solidFill>
                  <a:srgbClr val="E8EDF2"/>
                </a:solidFill>
                <a:latin typeface="Segoe UI"/>
              </a:rPr>
              <a:t>  built within 45 TOPS and 16 GB; on the 80 TOPS X2 the same code runs bigger vision models and adds gaze.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3DDC97"/>
                </a:solidFill>
                <a:latin typeface="Segoe UI"/>
              </a:rPr>
              <a:t>DEVELOPMENT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E8EDF2"/>
                </a:solidFill>
                <a:latin typeface="Segoe UI"/>
              </a:rPr>
              <a:t>How it was built in three days, and what was hard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400800"/>
            <a:ext cx="16459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97A6"/>
                </a:solidFill>
                <a:latin typeface="Segoe UI"/>
              </a:rPr>
              <a:t>Sahaay  · 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5669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1">
                <a:solidFill>
                  <a:srgbClr val="3DDC97"/>
                </a:solidFill>
                <a:latin typeface="Segoe UI"/>
              </a:rPr>
              <a:t>•  1. Toolchain proof:</a:t>
            </a:r>
            <a:r>
              <a:rPr sz="1300">
                <a:solidFill>
                  <a:srgbClr val="E8EDF2"/>
                </a:solidFill>
                <a:latin typeface="Segoe UI"/>
              </a:rPr>
              <a:t>  ORT QNN on ARM64, AI Hub, GenieX; found the silent CPU fallback and fixed it in npu.py.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3DDC97"/>
                </a:solidFill>
                <a:latin typeface="Segoe UI"/>
              </a:rPr>
              <a:t>•  2. Face:</a:t>
            </a:r>
            <a:r>
              <a:rPr sz="1300">
                <a:solidFill>
                  <a:srgbClr val="E8EDF2"/>
                </a:solidFill>
                <a:latin typeface="Segoe UI"/>
              </a:rPr>
              <a:t>  AI Hub export, numpy MediaPipe pipeline, pose and blink metrics, 28 fps.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3DDC97"/>
                </a:solidFill>
                <a:latin typeface="Segoe UI"/>
              </a:rPr>
              <a:t>•  3. Head cursor:</a:t>
            </a:r>
            <a:r>
              <a:rPr sz="1300">
                <a:solidFill>
                  <a:srgbClr val="E8EDF2"/>
                </a:solidFill>
                <a:latin typeface="Segoe UI"/>
              </a:rPr>
              <a:t>  joystick mapping, dwell ring, blink and mouth gestures, calibration.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3DDC97"/>
                </a:solidFill>
                <a:latin typeface="Segoe UI"/>
              </a:rPr>
              <a:t>•  4. Speech:</a:t>
            </a:r>
            <a:r>
              <a:rPr sz="1300">
                <a:solidFill>
                  <a:srgbClr val="E8EDF2"/>
                </a:solidFill>
                <a:latin typeface="Segoe UI"/>
              </a:rPr>
              <a:t>  precompiled Whisper, KV-cache decode loop, VAD.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3DDC97"/>
                </a:solidFill>
                <a:latin typeface="Segoe UI"/>
              </a:rPr>
              <a:t>•  5. Brain:</a:t>
            </a:r>
            <a:r>
              <a:rPr sz="1300">
                <a:solidFill>
                  <a:srgbClr val="E8EDF2"/>
                </a:solidFill>
                <a:latin typeface="Segoe UI"/>
              </a:rPr>
              <a:t>  two-tier commands, Qwen3-4B tool schema, screen snapshot, validation.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3DDC97"/>
                </a:solidFill>
                <a:latin typeface="Segoe UI"/>
              </a:rPr>
              <a:t>•  6. Narrator:</a:t>
            </a:r>
            <a:r>
              <a:rPr sz="1300">
                <a:solidFill>
                  <a:srgbClr val="E8EDF2"/>
                </a:solidFill>
                <a:latin typeface="Segoe UI"/>
              </a:rPr>
              <a:t>  summaries, focused text, Qwen3-VL, Piper en/hi.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3DDC97"/>
                </a:solidFill>
                <a:latin typeface="Segoe UI"/>
              </a:rPr>
              <a:t>•  7. App:</a:t>
            </a:r>
            <a:r>
              <a:rPr sz="1300">
                <a:solidFill>
                  <a:srgbClr val="E8EDF2"/>
                </a:solidFill>
                <a:latin typeface="Segoe UI"/>
              </a:rPr>
              <a:t>  threads, overlay, tray, hotkeys, logging.  8. Deployment:| installer, model fetcher, benchmarks, Arduino bridge.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46304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>
                <a:solidFill>
                  <a:srgbClr val="3DDC97"/>
                </a:solidFill>
                <a:latin typeface="Segoe UI"/>
              </a:rPr>
              <a:t>Easy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1828800"/>
            <a:ext cx="5029200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E8EDF2"/>
                </a:solidFill>
                <a:latin typeface="Segoe UI"/>
              </a:rPr>
              <a:t>Qualcomm AI Hub: every model exported and profiled on real X2 Elite and X Elite devices in minutes, with per-op compute-unit reports. GenieX: the language and vision models were a pip install and one pull, on the NPU first try.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320040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>
                <a:solidFill>
                  <a:srgbClr val="FFB454"/>
                </a:solidFill>
                <a:latin typeface="Segoe UI"/>
              </a:rPr>
              <a:t>Hard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3566160"/>
            <a:ext cx="5029200" cy="2560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0">
                <a:solidFill>
                  <a:srgbClr val="E8EDF2"/>
                </a:solidFill>
                <a:latin typeface="Segoe UI"/>
              </a:rPr>
              <a:t>Windows ARM64 plumbing: no OpenCV wheel (DirectShow COM instead, CoInitialize on every thread); the Piper wheel's espeak bridge is not built for ARM64 (shell out to espeak-ng, drive VITS through ONNX Runtime); QNN context caches must be reused, not regenerated; two GenieX models cannot load at the same moment; and the QNN provider must be selected through the new device API or ONNX Runtime quietly runs on the CPU.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>
                <a:solidFill>
                  <a:srgbClr val="3DDC97"/>
                </a:solidFill>
                <a:latin typeface="Segoe UI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000" b="1">
                <a:solidFill>
                  <a:srgbClr val="E8EDF2"/>
                </a:solidFill>
                <a:latin typeface="Segoe UI"/>
              </a:rPr>
              <a:t>Next, and 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6400800"/>
            <a:ext cx="16459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8A97A6"/>
                </a:solidFill>
                <a:latin typeface="Segoe UI"/>
              </a:rPr>
              <a:t>Sahaay  · 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3DDC97"/>
                </a:solidFill>
                <a:latin typeface="Segoe UI"/>
              </a:rPr>
              <a:t>•  Gaze estimation (eyegaze on AI Hub)</a:t>
            </a:r>
            <a:r>
              <a:rPr sz="1500">
                <a:solidFill>
                  <a:srgbClr val="E8EDF2"/>
                </a:solidFill>
                <a:latin typeface="Segoe UI"/>
              </a:rPr>
              <a:t>  for coarse screen-region selection alongside head pose.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3DDC97"/>
                </a:solidFill>
                <a:latin typeface="Segoe UI"/>
              </a:rPr>
              <a:t>•  Piper on the NPU</a:t>
            </a:r>
            <a:r>
              <a:rPr sz="1500">
                <a:solidFill>
                  <a:srgbClr val="E8EDF2"/>
                </a:solidFill>
                <a:latin typeface="Segoe UI"/>
              </a:rPr>
              <a:t>  via the AI Hub pipertts recipe; Hindi and Hinglish command grammar.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3DDC97"/>
                </a:solidFill>
                <a:latin typeface="Segoe UI"/>
              </a:rPr>
              <a:t>•  Element grounding from the vision model:</a:t>
            </a:r>
            <a:r>
              <a:rPr sz="1500">
                <a:solidFill>
                  <a:srgbClr val="E8EDF2"/>
                </a:solidFill>
                <a:latin typeface="Segoe UI"/>
              </a:rPr>
              <a:t>  "click the blue button" when there is no accessibility tree.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3DDC97"/>
                </a:solidFill>
                <a:latin typeface="Segoe UI"/>
              </a:rPr>
              <a:t>•  OmniBook presence sensor</a:t>
            </a:r>
            <a:r>
              <a:rPr sz="1500">
                <a:solidFill>
                  <a:srgbClr val="E8EDF2"/>
                </a:solidFill>
                <a:latin typeface="Segoe UI"/>
              </a:rPr>
              <a:t>  to pause tracking when the user steps away; MSIX package for the Microsoft Store.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3DDC97"/>
                </a:solidFill>
                <a:latin typeface="Segoe UI"/>
              </a:rPr>
              <a:t>•  User trials</a:t>
            </a:r>
            <a:r>
              <a:rPr sz="1500">
                <a:solidFill>
                  <a:srgbClr val="E8EDF2"/>
                </a:solidFill>
                <a:latin typeface="Segoe UI"/>
              </a:rPr>
              <a:t>  with an assistive-technology centre; calibration profiles for tremor and limited neck range.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1645920"/>
            <a:ext cx="3840480" cy="1280160"/>
          </a:xfrm>
          <a:prstGeom prst="roundRect">
            <a:avLst/>
          </a:prstGeom>
          <a:solidFill>
            <a:srgbClr val="181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3DDC97"/>
                </a:solidFill>
                <a:latin typeface="Segoe UI"/>
              </a:rPr>
              <a:t>github.com/Vision-jarvis/sahaay</a:t>
            </a:r>
          </a:p>
          <a:p>
            <a:pPr algn="ctr"/>
            <a:r>
              <a:rPr sz="1300" b="0">
                <a:solidFill>
                  <a:srgbClr val="8A97A6"/>
                </a:solidFill>
                <a:latin typeface="Segoe UI"/>
              </a:rPr>
              <a:t>code · benchmarks · install.ps1 · demo GIFs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3200400"/>
            <a:ext cx="3840480" cy="1097280"/>
          </a:xfrm>
          <a:prstGeom prst="roundRect">
            <a:avLst/>
          </a:prstGeom>
          <a:solidFill>
            <a:srgbClr val="181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E8EDF2"/>
                </a:solidFill>
                <a:latin typeface="Segoe UI"/>
              </a:rPr>
              <a:t>Ruhan Srivastava</a:t>
            </a:r>
          </a:p>
          <a:p>
            <a:pPr algn="ctr"/>
            <a:r>
              <a:rPr sz="1300" b="0">
                <a:solidFill>
                  <a:srgbClr val="8A97A6"/>
                </a:solidFill>
                <a:latin typeface="Segoe UI"/>
              </a:rPr>
              <a:t>IIT Kharagpur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76072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>
                <a:solidFill>
                  <a:srgbClr val="8A97A6"/>
                </a:solidFill>
                <a:latin typeface="Segoe UI"/>
              </a:rPr>
              <a:t>Built entirely on a Snapdragon X2 Elite laptop with Qualcomm AI Hub, ONNX Runtime QNN and GenieX.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